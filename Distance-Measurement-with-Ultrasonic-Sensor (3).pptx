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Spline Sans"/>
      <p:regular r:id="rId17"/>
    </p:embeddedFont>
    <p:embeddedFont>
      <p:font typeface="Spline Sans"/>
      <p:regular r:id="rId18"/>
    </p:embeddedFont>
    <p:embeddedFont>
      <p:font typeface="Barlow"/>
      <p:regular r:id="rId19"/>
    </p:embeddedFont>
    <p:embeddedFont>
      <p:font typeface="Barlow"/>
      <p:regular r:id="rId20"/>
    </p:embeddedFont>
    <p:embeddedFont>
      <p:font typeface="Barlow"/>
      <p:regular r:id="rId21"/>
    </p:embeddedFont>
    <p:embeddedFont>
      <p:font typeface="Barlow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geeksforgeeks.org/distance-measurement-using-ultrasonic-sensor-and-arduino/" TargetMode="External"/><Relationship Id="rId2" Type="http://schemas.openxmlformats.org/officeDocument/2006/relationships/hyperlink" Target="https://www.arduino.cc/" TargetMode="External"/><Relationship Id="rId3" Type="http://schemas.openxmlformats.org/officeDocument/2006/relationships/hyperlink" Target="https://www.alldatasheet.com/view.jsp?Searchword=Hcsr04&amp;gad_source=1&amp;gclid=Cj0KCQjw2N2_BhCAARIsAK4pEkXDMq3n4pwQJ4DHWc2dquAHMUGXW2CQXxjKdP2gSZzio2K-65LTAroaAqSiEALw_wcB" TargetMode="External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924169"/>
            <a:ext cx="7415927" cy="1097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Distance Measurement with Ultrasonic  Sensor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6350437" y="3298865"/>
            <a:ext cx="7415927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Explore distance measurement using an ultrasonic sensor and Arduino. This project integrates hardware components for real-time data. Applications include robotics, parking assistance, and obstacle avoidance.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50437" y="5249347"/>
            <a:ext cx="553473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Name:- Chirag Choudhary                  Roll No.  10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350437" y="5962531"/>
            <a:ext cx="550271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Name:- Manorath Ital                                Roll No. 19</a:t>
            </a:r>
            <a:endParaRPr lang="en-US" sz="2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1097161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Understanding Ultrasonic Sensors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864037" y="2839045"/>
            <a:ext cx="74159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Ultrasonic sensors transmit and receive sound waves to measure distance. They typically operate at a frequency of 40 kHz. The distance is calculated using the time-of-flight principle.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864037" y="4301847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16FFBB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146" y="4373761"/>
            <a:ext cx="329089" cy="411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66280" y="438662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Sound Waves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1666280" y="4877633"/>
            <a:ext cx="2751415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Sensors transmit sound waves.</a:t>
            </a:r>
            <a:endParaRPr lang="en-US" sz="1900" dirty="0"/>
          </a:p>
        </p:txBody>
      </p:sp>
      <p:sp>
        <p:nvSpPr>
          <p:cNvPr id="9" name="Shape 5"/>
          <p:cNvSpPr/>
          <p:nvPr/>
        </p:nvSpPr>
        <p:spPr>
          <a:xfrm>
            <a:off x="4726305" y="4301847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29DDDA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9414" y="4373761"/>
            <a:ext cx="329089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528548" y="4386620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Time of Flight</a:t>
            </a:r>
            <a:endParaRPr lang="en-US" sz="2150" dirty="0"/>
          </a:p>
        </p:txBody>
      </p:sp>
      <p:sp>
        <p:nvSpPr>
          <p:cNvPr id="12" name="Text 7"/>
          <p:cNvSpPr/>
          <p:nvPr/>
        </p:nvSpPr>
        <p:spPr>
          <a:xfrm>
            <a:off x="5528548" y="4877633"/>
            <a:ext cx="2751415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Measure time for wave return.</a:t>
            </a:r>
            <a:endParaRPr lang="en-US" sz="1900" dirty="0"/>
          </a:p>
        </p:txBody>
      </p:sp>
      <p:sp>
        <p:nvSpPr>
          <p:cNvPr id="13" name="Shape 8"/>
          <p:cNvSpPr/>
          <p:nvPr/>
        </p:nvSpPr>
        <p:spPr>
          <a:xfrm>
            <a:off x="864037" y="6161484"/>
            <a:ext cx="555427" cy="555427"/>
          </a:xfrm>
          <a:prstGeom prst="roundRect">
            <a:avLst>
              <a:gd name="adj" fmla="val 66675"/>
            </a:avLst>
          </a:prstGeom>
          <a:solidFill>
            <a:srgbClr val="0A081B"/>
          </a:solidFill>
          <a:ln w="30480">
            <a:solidFill>
              <a:srgbClr val="37A7E7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146" y="6233398"/>
            <a:ext cx="329089" cy="411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66280" y="6246257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Distance</a:t>
            </a:r>
            <a:endParaRPr lang="en-US" sz="2150" dirty="0"/>
          </a:p>
        </p:txBody>
      </p:sp>
      <p:sp>
        <p:nvSpPr>
          <p:cNvPr id="16" name="Text 10"/>
          <p:cNvSpPr/>
          <p:nvPr/>
        </p:nvSpPr>
        <p:spPr>
          <a:xfrm>
            <a:off x="1666280" y="6737271"/>
            <a:ext cx="661368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Calculated with a simple formula.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267307"/>
            <a:ext cx="8448318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Essential Hardware Components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35702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Arduino Uno</a:t>
            </a:r>
            <a:endParaRPr lang="en-US" sz="2150" dirty="0"/>
          </a:p>
        </p:txBody>
      </p:sp>
      <p:sp>
        <p:nvSpPr>
          <p:cNvPr id="4" name="Text 2"/>
          <p:cNvSpPr/>
          <p:nvPr/>
        </p:nvSpPr>
        <p:spPr>
          <a:xfrm>
            <a:off x="864037" y="4159925"/>
            <a:ext cx="2773918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ATmega328P microcontroller, 14 digital I/O pins, 6 analog inputs, USB interface.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247793" y="35702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Ultrasonic Sensor</a:t>
            </a:r>
            <a:endParaRPr lang="en-US" sz="2150" dirty="0"/>
          </a:p>
        </p:txBody>
      </p:sp>
      <p:sp>
        <p:nvSpPr>
          <p:cNvPr id="6" name="Text 4"/>
          <p:cNvSpPr/>
          <p:nvPr/>
        </p:nvSpPr>
        <p:spPr>
          <a:xfrm>
            <a:off x="4247793" y="4159925"/>
            <a:ext cx="277391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HC-SR04, 2-400cm range, 5V power, 15mA current, 40kHz frequency.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631549" y="35702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LCD (I2C)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631549" y="4159925"/>
            <a:ext cx="277391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16x2 LCD, I2C interface, backlight, 5V operation, address 0x27.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015305" y="357020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Jumper Wires</a:t>
            </a:r>
            <a:endParaRPr lang="en-US" sz="2150" dirty="0"/>
          </a:p>
        </p:txBody>
      </p:sp>
      <p:sp>
        <p:nvSpPr>
          <p:cNvPr id="10" name="Text 8"/>
          <p:cNvSpPr/>
          <p:nvPr/>
        </p:nvSpPr>
        <p:spPr>
          <a:xfrm>
            <a:off x="11015305" y="4159925"/>
            <a:ext cx="2773918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Male-to-male, 22 AWG, various colors, for breadboard connections.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959" y="339447"/>
            <a:ext cx="13716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Flowchart:</a:t>
            </a:r>
            <a:endParaRPr lang="en-US" sz="1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5672" y="757714"/>
            <a:ext cx="5778937" cy="72019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1959" y="8144828"/>
            <a:ext cx="274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endParaRPr lang="en-US" sz="2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876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94" y="1633418"/>
            <a:ext cx="4971812" cy="497181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06966" y="566142"/>
            <a:ext cx="4575453" cy="571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Circuit Connections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6206966" y="1446848"/>
            <a:ext cx="7702868" cy="987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Connect the ultrasonic sensor and LCD to the Arduino. Use the provided pin configurations for proper functionality. Double-check all connections before powering on.</a:t>
            </a:r>
            <a:endParaRPr lang="en-US" sz="1600" dirty="0"/>
          </a:p>
        </p:txBody>
      </p:sp>
      <p:sp>
        <p:nvSpPr>
          <p:cNvPr id="6" name="Shape 2"/>
          <p:cNvSpPr/>
          <p:nvPr/>
        </p:nvSpPr>
        <p:spPr>
          <a:xfrm>
            <a:off x="6206966" y="2666405"/>
            <a:ext cx="7702868" cy="2400181"/>
          </a:xfrm>
          <a:prstGeom prst="roundRect">
            <a:avLst>
              <a:gd name="adj" fmla="val 12868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435685" y="2895124"/>
            <a:ext cx="2287667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Ultrasonic Sensor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6435685" y="3304461"/>
            <a:ext cx="7245429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VCC to 5V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35685" y="3705820"/>
            <a:ext cx="7245429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Trig to Digital Pin 9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435685" y="4107180"/>
            <a:ext cx="7245429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Echo to Digital Pin 10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35685" y="4508540"/>
            <a:ext cx="7245429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GND to GND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206966" y="5272445"/>
            <a:ext cx="7702868" cy="2400181"/>
          </a:xfrm>
          <a:prstGeom prst="roundRect">
            <a:avLst>
              <a:gd name="adj" fmla="val 12868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35685" y="5501164"/>
            <a:ext cx="2287667" cy="285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LCD (I2C)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435685" y="5910501"/>
            <a:ext cx="7245429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SDA to SDA (A4)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35685" y="6311860"/>
            <a:ext cx="7245429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SCL to SCL (A5)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435685" y="6713220"/>
            <a:ext cx="7245429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VCC to 5V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435685" y="7114580"/>
            <a:ext cx="7245429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GND to GND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2090" y="594955"/>
            <a:ext cx="5335667" cy="599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Arduino Code Structure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242090" y="1518523"/>
            <a:ext cx="7632621" cy="6910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Arduino code includes libraries and pin definitions. It initializes the LCD and triggers the ultrasonic sensor. Echo time is measured to calculate the distance.</a:t>
            </a:r>
            <a:endParaRPr lang="en-US" sz="17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2090" y="2452449"/>
            <a:ext cx="1079540" cy="129551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45479" y="2668310"/>
            <a:ext cx="2399109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Include Libraries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7645479" y="3097649"/>
            <a:ext cx="6229231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LiquidCrystal_I2C.h, Wire.h</a:t>
            </a:r>
            <a:endParaRPr lang="en-US" sz="1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090" y="3747968"/>
            <a:ext cx="1079540" cy="129551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645479" y="3963829"/>
            <a:ext cx="2399109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Define Pins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7645479" y="4393168"/>
            <a:ext cx="6229231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Trig and Echo pins.</a:t>
            </a:r>
            <a:endParaRPr lang="en-US" sz="17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2090" y="5043488"/>
            <a:ext cx="1079540" cy="129551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45479" y="5259348"/>
            <a:ext cx="2399109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Initialize LCD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7645479" y="5688687"/>
            <a:ext cx="6229231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Set address and dimensions.</a:t>
            </a:r>
            <a:endParaRPr lang="en-US" sz="17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2090" y="6339007"/>
            <a:ext cx="1079540" cy="129551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645479" y="6554867"/>
            <a:ext cx="2399109" cy="29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Trigger Sensor</a:t>
            </a:r>
            <a:endParaRPr lang="en-US" sz="1850" dirty="0"/>
          </a:p>
        </p:txBody>
      </p:sp>
      <p:sp>
        <p:nvSpPr>
          <p:cNvPr id="16" name="Text 9"/>
          <p:cNvSpPr/>
          <p:nvPr/>
        </p:nvSpPr>
        <p:spPr>
          <a:xfrm>
            <a:off x="7645479" y="6984206"/>
            <a:ext cx="6229231" cy="345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Send a 10us pulse.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1244" y="664964"/>
            <a:ext cx="4218027" cy="519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Code Implementation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141244" y="1465302"/>
            <a:ext cx="7834313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This section details code snippets for triggering the sensor and reading echo time. LCD is updated to display distance readings. Make adjustments for accuracy and stability.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351746" y="2274689"/>
            <a:ext cx="22860" cy="5289828"/>
          </a:xfrm>
          <a:prstGeom prst="roundRect">
            <a:avLst>
              <a:gd name="adj" fmla="val 1227788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539389" y="2473762"/>
            <a:ext cx="561261" cy="22860"/>
          </a:xfrm>
          <a:prstGeom prst="roundRect">
            <a:avLst>
              <a:gd name="adj" fmla="val 1227788"/>
            </a:avLst>
          </a:prstGeom>
          <a:solidFill>
            <a:srgbClr val="16FFBB"/>
          </a:solidFill>
          <a:ln/>
        </p:spPr>
      </p:sp>
      <p:sp>
        <p:nvSpPr>
          <p:cNvPr id="7" name="Shape 4"/>
          <p:cNvSpPr/>
          <p:nvPr/>
        </p:nvSpPr>
        <p:spPr>
          <a:xfrm>
            <a:off x="6141244" y="2274689"/>
            <a:ext cx="421005" cy="421005"/>
          </a:xfrm>
          <a:prstGeom prst="roundRect">
            <a:avLst>
              <a:gd name="adj" fmla="val 66667"/>
            </a:avLst>
          </a:prstGeom>
          <a:solidFill>
            <a:srgbClr val="0A081B"/>
          </a:solidFill>
          <a:ln w="22860">
            <a:solidFill>
              <a:srgbClr val="16FF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27028" y="2329279"/>
            <a:ext cx="249436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287220" y="2338983"/>
            <a:ext cx="2078950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Trigger Sensor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287220" y="2809280"/>
            <a:ext cx="6688336" cy="1478280"/>
          </a:xfrm>
          <a:prstGeom prst="roundRect">
            <a:avLst>
              <a:gd name="adj" fmla="val 18986"/>
            </a:avLst>
          </a:prstGeom>
          <a:solidFill>
            <a:srgbClr val="004D36"/>
          </a:solidFill>
          <a:ln/>
        </p:spPr>
      </p:sp>
      <p:sp>
        <p:nvSpPr>
          <p:cNvPr id="11" name="Shape 8"/>
          <p:cNvSpPr/>
          <p:nvPr/>
        </p:nvSpPr>
        <p:spPr>
          <a:xfrm>
            <a:off x="7277933" y="2809280"/>
            <a:ext cx="6706910" cy="1478280"/>
          </a:xfrm>
          <a:prstGeom prst="roundRect">
            <a:avLst>
              <a:gd name="adj" fmla="val 1899"/>
            </a:avLst>
          </a:prstGeom>
          <a:solidFill>
            <a:srgbClr val="004D36"/>
          </a:solidFill>
          <a:ln/>
        </p:spPr>
      </p:sp>
      <p:sp>
        <p:nvSpPr>
          <p:cNvPr id="12" name="Text 9"/>
          <p:cNvSpPr/>
          <p:nvPr/>
        </p:nvSpPr>
        <p:spPr>
          <a:xfrm>
            <a:off x="7464981" y="2949535"/>
            <a:ext cx="6332815" cy="1197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0E4E6"/>
                </a:solidFill>
                <a:highlight>
                  <a:srgbClr val="004D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digitalWrite(trigPin, LOW);</a:t>
            </a:r>
            <a:endParaRPr lang="en-US" sz="14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0E4E6"/>
                </a:solidFill>
                <a:highlight>
                  <a:srgbClr val="004D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delayMicroseconds(2);</a:t>
            </a:r>
            <a:endParaRPr lang="en-US" sz="14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0E4E6"/>
                </a:solidFill>
                <a:highlight>
                  <a:srgbClr val="004D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digitalWrite(trigPin, HIGH);</a:t>
            </a:r>
            <a:endParaRPr lang="en-US" sz="14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0E4E6"/>
                </a:solidFill>
                <a:highlight>
                  <a:srgbClr val="004D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delayMicroseconds(10);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6539389" y="4860846"/>
            <a:ext cx="561261" cy="22860"/>
          </a:xfrm>
          <a:prstGeom prst="roundRect">
            <a:avLst>
              <a:gd name="adj" fmla="val 1227788"/>
            </a:avLst>
          </a:prstGeom>
          <a:solidFill>
            <a:srgbClr val="29DDDA"/>
          </a:solidFill>
          <a:ln/>
        </p:spPr>
      </p:sp>
      <p:sp>
        <p:nvSpPr>
          <p:cNvPr id="14" name="Shape 11"/>
          <p:cNvSpPr/>
          <p:nvPr/>
        </p:nvSpPr>
        <p:spPr>
          <a:xfrm>
            <a:off x="6141244" y="4661773"/>
            <a:ext cx="421005" cy="421005"/>
          </a:xfrm>
          <a:prstGeom prst="roundRect">
            <a:avLst>
              <a:gd name="adj" fmla="val 66667"/>
            </a:avLst>
          </a:prstGeom>
          <a:solidFill>
            <a:srgbClr val="0A081B"/>
          </a:solidFill>
          <a:ln w="22860">
            <a:solidFill>
              <a:srgbClr val="29DDD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27028" y="4716363"/>
            <a:ext cx="249436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7287220" y="4726067"/>
            <a:ext cx="2078950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Read Echo Time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287220" y="5196364"/>
            <a:ext cx="6688336" cy="579953"/>
          </a:xfrm>
          <a:prstGeom prst="roundRect">
            <a:avLst>
              <a:gd name="adj" fmla="val 48396"/>
            </a:avLst>
          </a:prstGeom>
          <a:solidFill>
            <a:srgbClr val="004D36"/>
          </a:solidFill>
          <a:ln/>
        </p:spPr>
      </p:sp>
      <p:sp>
        <p:nvSpPr>
          <p:cNvPr id="18" name="Shape 15"/>
          <p:cNvSpPr/>
          <p:nvPr/>
        </p:nvSpPr>
        <p:spPr>
          <a:xfrm>
            <a:off x="7277933" y="5196364"/>
            <a:ext cx="6706910" cy="579953"/>
          </a:xfrm>
          <a:prstGeom prst="roundRect">
            <a:avLst>
              <a:gd name="adj" fmla="val 4840"/>
            </a:avLst>
          </a:prstGeom>
          <a:solidFill>
            <a:srgbClr val="004D36"/>
          </a:solidFill>
          <a:ln/>
        </p:spPr>
      </p:sp>
      <p:sp>
        <p:nvSpPr>
          <p:cNvPr id="19" name="Text 16"/>
          <p:cNvSpPr/>
          <p:nvPr/>
        </p:nvSpPr>
        <p:spPr>
          <a:xfrm>
            <a:off x="7464981" y="5336619"/>
            <a:ext cx="6332815" cy="299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0E4E6"/>
                </a:solidFill>
                <a:highlight>
                  <a:srgbClr val="004D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 = pulseIn(echoPin, HIGH);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6539389" y="6349603"/>
            <a:ext cx="561261" cy="22860"/>
          </a:xfrm>
          <a:prstGeom prst="roundRect">
            <a:avLst>
              <a:gd name="adj" fmla="val 1227788"/>
            </a:avLst>
          </a:prstGeom>
          <a:solidFill>
            <a:srgbClr val="37A7E7"/>
          </a:solidFill>
          <a:ln/>
        </p:spPr>
      </p:sp>
      <p:sp>
        <p:nvSpPr>
          <p:cNvPr id="21" name="Shape 18"/>
          <p:cNvSpPr/>
          <p:nvPr/>
        </p:nvSpPr>
        <p:spPr>
          <a:xfrm>
            <a:off x="6141244" y="6150531"/>
            <a:ext cx="421005" cy="421005"/>
          </a:xfrm>
          <a:prstGeom prst="roundRect">
            <a:avLst>
              <a:gd name="adj" fmla="val 66667"/>
            </a:avLst>
          </a:prstGeom>
          <a:solidFill>
            <a:srgbClr val="0A081B"/>
          </a:solidFill>
          <a:ln w="22860">
            <a:solidFill>
              <a:srgbClr val="37A7E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27028" y="6205121"/>
            <a:ext cx="249436" cy="311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7287220" y="6214824"/>
            <a:ext cx="2078950" cy="259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Display on LCD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287220" y="6685121"/>
            <a:ext cx="6688336" cy="879396"/>
          </a:xfrm>
          <a:prstGeom prst="roundRect">
            <a:avLst>
              <a:gd name="adj" fmla="val 31916"/>
            </a:avLst>
          </a:prstGeom>
          <a:solidFill>
            <a:srgbClr val="004D36"/>
          </a:solidFill>
          <a:ln/>
        </p:spPr>
      </p:sp>
      <p:sp>
        <p:nvSpPr>
          <p:cNvPr id="25" name="Shape 22"/>
          <p:cNvSpPr/>
          <p:nvPr/>
        </p:nvSpPr>
        <p:spPr>
          <a:xfrm>
            <a:off x="7277933" y="6685121"/>
            <a:ext cx="6706910" cy="879396"/>
          </a:xfrm>
          <a:prstGeom prst="roundRect">
            <a:avLst>
              <a:gd name="adj" fmla="val 3192"/>
            </a:avLst>
          </a:prstGeom>
          <a:solidFill>
            <a:srgbClr val="004D36"/>
          </a:solidFill>
          <a:ln/>
        </p:spPr>
      </p:sp>
      <p:sp>
        <p:nvSpPr>
          <p:cNvPr id="26" name="Text 23"/>
          <p:cNvSpPr/>
          <p:nvPr/>
        </p:nvSpPr>
        <p:spPr>
          <a:xfrm>
            <a:off x="7464981" y="6825377"/>
            <a:ext cx="6332815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0E4E6"/>
                </a:solidFill>
                <a:highlight>
                  <a:srgbClr val="004D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lcd.print("Distance: ");</a:t>
            </a:r>
            <a:endParaRPr lang="en-US" sz="1450" dirty="0"/>
          </a:p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0E4E6"/>
                </a:solidFill>
                <a:highlight>
                  <a:srgbClr val="004D3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lcd.print(distance);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859869"/>
            <a:ext cx="5982176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Calibration and Results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2039422"/>
            <a:ext cx="12902327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sensor typically measures from 2cm to 400cm. Accuracy can be affected by temperature and surface type. Calibrate the code for optimal performance.</a:t>
            </a:r>
            <a:endParaRPr lang="en-US" sz="1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5140" y="3107174"/>
            <a:ext cx="2128838" cy="13796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15966" y="3749873"/>
            <a:ext cx="347186" cy="433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2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00794" y="3353991"/>
            <a:ext cx="188987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Controlled Lab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5400794" y="3845004"/>
            <a:ext cx="1889879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+/- 0.3 cm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5215652" y="4502468"/>
            <a:ext cx="8489037" cy="15240"/>
          </a:xfrm>
          <a:prstGeom prst="roundRect">
            <a:avLst>
              <a:gd name="adj" fmla="val 2430000"/>
            </a:avLst>
          </a:prstGeom>
          <a:solidFill>
            <a:srgbClr val="16FFB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721" y="4548545"/>
            <a:ext cx="4257675" cy="13796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15966" y="5021342"/>
            <a:ext cx="347186" cy="433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2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7"/>
          <p:cNvSpPr/>
          <p:nvPr/>
        </p:nvSpPr>
        <p:spPr>
          <a:xfrm>
            <a:off x="6465213" y="4795361"/>
            <a:ext cx="258377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Troubleshooting</a:t>
            </a:r>
            <a:endParaRPr lang="en-US" sz="2150" dirty="0"/>
          </a:p>
        </p:txBody>
      </p:sp>
      <p:sp>
        <p:nvSpPr>
          <p:cNvPr id="12" name="Text 8"/>
          <p:cNvSpPr/>
          <p:nvPr/>
        </p:nvSpPr>
        <p:spPr>
          <a:xfrm>
            <a:off x="6465213" y="5286375"/>
            <a:ext cx="2583775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Sensor triggering issues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6280071" y="5943838"/>
            <a:ext cx="7424618" cy="15240"/>
          </a:xfrm>
          <a:prstGeom prst="roundRect">
            <a:avLst>
              <a:gd name="adj" fmla="val 2430000"/>
            </a:avLst>
          </a:prstGeom>
          <a:solidFill>
            <a:srgbClr val="29DDD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83" y="5989915"/>
            <a:ext cx="6386632" cy="13796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915847" y="6462713"/>
            <a:ext cx="347186" cy="433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350"/>
              </a:lnSpc>
              <a:buNone/>
            </a:pPr>
            <a:r>
              <a:rPr lang="en-US" sz="27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3</a:t>
            </a:r>
            <a:endParaRPr lang="en-US" sz="2700" dirty="0"/>
          </a:p>
        </p:txBody>
      </p:sp>
      <p:sp>
        <p:nvSpPr>
          <p:cNvPr id="16" name="Text 11"/>
          <p:cNvSpPr/>
          <p:nvPr/>
        </p:nvSpPr>
        <p:spPr>
          <a:xfrm>
            <a:off x="7529632" y="6236732"/>
            <a:ext cx="1531501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Range</a:t>
            </a:r>
            <a:endParaRPr lang="en-US" sz="2150" dirty="0"/>
          </a:p>
        </p:txBody>
      </p:sp>
      <p:sp>
        <p:nvSpPr>
          <p:cNvPr id="17" name="Text 12"/>
          <p:cNvSpPr/>
          <p:nvPr/>
        </p:nvSpPr>
        <p:spPr>
          <a:xfrm>
            <a:off x="7529632" y="6727746"/>
            <a:ext cx="1531501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2cm to 400cm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762839"/>
            <a:ext cx="7415927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Applications and Enhancements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350437" y="3504724"/>
            <a:ext cx="7415927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This project has applications in robotics and automation. Future enhancements include data logging and wireless communication. Integrate with a mobile app for remote monitoring.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437" y="4967526"/>
            <a:ext cx="566499" cy="56649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50437" y="5780842"/>
            <a:ext cx="226623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Robotics</a:t>
            </a:r>
            <a:endParaRPr lang="en-US" sz="2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5282" y="4967526"/>
            <a:ext cx="566499" cy="56649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25282" y="5780842"/>
            <a:ext cx="226623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Automation</a:t>
            </a:r>
            <a:endParaRPr lang="en-US" sz="21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0128" y="4967526"/>
            <a:ext cx="566499" cy="56649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500128" y="5780842"/>
            <a:ext cx="22662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Remote Monitoring</a:t>
            </a:r>
            <a:endParaRPr lang="en-US" sz="2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846070"/>
            <a:ext cx="54864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References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864037" y="4025622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u="sng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Distance Measurement Using Ultrasonic Sensor and Arduino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4037" y="4506992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u="sng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Arduino Official Website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4037" y="4988362"/>
            <a:ext cx="1290232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3100"/>
              </a:lnSpc>
              <a:buSzPct val="100000"/>
              <a:buChar char="•"/>
            </a:pPr>
            <a:r>
              <a:rPr lang="en-US" sz="1900" u="sng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Ultrasonic Sensor HC-SR04 Datasheet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2025-04-30T18:32:10Z</dcterms:created>
  <dcterms:modified xsi:type="dcterms:W3CDTF">2025-04-30T18:32:10Z</dcterms:modified>
</cp:coreProperties>
</file>